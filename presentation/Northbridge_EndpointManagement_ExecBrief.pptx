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24349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Goal of this briefing: get approval to run a low-cost, low-risk proof of concept. The headline: we can close a real security and audit gap using proven open-source software, at a fraction of commercial cost. Keep it to ~15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with the question an auditor, regulator, or the board could ask at any time. The honest answer today is 'we're not sure' — and that is the gap this proposal closes.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Plain statement of reality. No blame — the team has done well with manual process, but it doesn't scale and it doesn't give us assurance. Emphasize the roaming laptops: they're the hardest to reach and the highest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Translate the technical gap into business risk an exec feels: breach liability, ransomware downtime, and regulatory findings. For a community bank, trust and reputation are the franchise — this protects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pivot from problem to solution. Three verbs to remember: KNOW, PROVE, FIX. Stress 'open-source' and 'infrastructure we control' — that's the cost and data-sovereignty story execs care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heart of the pitch. KNOW / PROVE / FIX. Note that 'FIX' working for roaming laptops is the differentiator — the device phones home securely, so we reach it even when it's at an employee's 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this non-technical. The one idea: devices 'phone home' over the same kind of secure connection as online banking, so we manage them wherever they are. No inbound access to the laptop is ever needed — that's also a security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Pre-empt the 'is open source safe/serious?' question. These are battle-tested tools. Open source here means transparency and no licensing tax — not amateur hour. We assemble proven parts rather than build from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for the audit/compliance-minded exec. Each item maps to a real control we can prove on demand. Tie back to the opening question: now we can answer 'yes, and here's the report.'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ways to pay for this. The numbers are illustrative ranges, not quotes. Option 3 is the kicker for a cost-conscious board: if we have a server with spare capacity, hosting is effectively free — we only spend a little internal time. Even on AWS, we're an order of magnitude below commercial per-seat pricing, and in every case the data stays in-house.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De-risk the ask. We're not betting the bank — we're asking to prove it on two machines first. Each phase gates the next, so the exec controls the spend and 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Showing the risks builds credibility. None are show-stoppers, and the POC is designed precisely to test the open questions (effort, fit) cheaply. Address the 'no vendor' worry head-on — it's the most common executive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close. Make the ask concrete, small, and reversible: six weeks, two devices, near-zero cost, a clear decision afterward. Return to the opening question to bookend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Invite discussion. Have the requirements and design docs ready as backup if a technical question comes up, but keep the room on the business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73152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919472"/>
            <a:ext cx="12191695" cy="1938528"/>
          </a:xfrm>
          <a:prstGeom prst="rect">
            <a:avLst/>
          </a:prstGeom>
          <a:solidFill>
            <a:srgbClr val="091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Calibri Light"/>
              </a:rPr>
              <a:t>Securing Every Endpoint —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4400" b="1">
                <a:solidFill>
                  <a:srgbClr val="13A89E"/>
                </a:solidFill>
                <a:latin typeface="Calibri Light"/>
              </a:rPr>
              <a:t>Without the Enterprise Price Tag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C8D4E0"/>
                </a:solidFill>
                <a:latin typeface="Calibri"/>
              </a:rPr>
              <a:t>An open-source approach to knowing, securing, and patching every device we 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dirty="0">
                <a:solidFill>
                  <a:srgbClr val="FFFFFF"/>
                </a:solidFill>
                <a:latin typeface="Calibri"/>
              </a:rPr>
              <a:t>Executive Briefing  ·  Information Technology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dirty="0">
                <a:solidFill>
                  <a:srgbClr val="B8C4D0"/>
                </a:solidFill>
                <a:latin typeface="Calibri"/>
              </a:rPr>
              <a:t>Northbridge Community Bank   |   Prepared for the Executive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3400" b="1">
                <a:solidFill>
                  <a:srgbClr val="0B2545"/>
                </a:solidFill>
                <a:latin typeface="Calibri Light"/>
              </a:rPr>
              <a:t>“Is every laptop we own encrypted and fully patched?”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5A6B7B"/>
                </a:solidFill>
                <a:latin typeface="Calibri"/>
              </a:rPr>
              <a:t>Today, we answer that question with spreadsheets and guesswork — not in minutes, and not with confidence.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CURRENT STATE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Where we stand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1042416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~500 Windows devices — roughly 350 in-office desktops and 150 laptops that leave the building.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Patching is manual and inconsistent — no guarantee a laptop in the field is up to date.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No central inventory — we can't quickly say who has what, or its security status.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Compliance evidence is a fire drill — assembled by hand each time an audit asks.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0B2545"/>
                </a:solidFill>
                <a:latin typeface="Calibri"/>
              </a:rPr>
              <a:t>•   No budget for commercial tools — Intune, Tanium, and the like are priced per device.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STAKES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Why this matters for a bank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783080"/>
            <a:ext cx="3429000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Data breach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One lost or stolen unencrypted laptop can expose customer data — a reportable breach with regulatory penalties.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70832" y="1783080"/>
            <a:ext cx="3429000" cy="12801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45152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Ransomware / exploit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Unpatched devices are the most common entry point for attackers. Every missing patch is an open door.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4424" y="1783080"/>
            <a:ext cx="3429000" cy="3931920"/>
          </a:xfrm>
          <a:prstGeom prst="rect">
            <a:avLst/>
          </a:prstGeom>
          <a:solidFill>
            <a:srgbClr val="102E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64424" y="1783080"/>
            <a:ext cx="3429000" cy="128016"/>
          </a:xfrm>
          <a:prstGeom prst="rect">
            <a:avLst/>
          </a:prstGeom>
          <a:solidFill>
            <a:srgbClr val="D88C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38744" y="2194560"/>
            <a:ext cx="28803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Audit &amp; regulatory findings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C8D4E0"/>
                </a:solidFill>
                <a:latin typeface="Calibri"/>
              </a:rPr>
              <a:t>Inability to prove device compliance on demand leads to findings, remediation costs, and scrutiny.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1005840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3A89E"/>
                </a:solidFill>
                <a:latin typeface="Calibri"/>
              </a:rPr>
              <a:t>The opportunity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800" b="1">
                <a:solidFill>
                  <a:srgbClr val="0B2545"/>
                </a:solidFill>
                <a:latin typeface="Calibri Light"/>
              </a:rPr>
              <a:t>One system that knows every device, proves compliance on demand, and fixes problems automatically —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>
                <a:solidFill>
                  <a:srgbClr val="1B6CA8"/>
                </a:solidFill>
                <a:latin typeface="Calibri"/>
              </a:rPr>
              <a:t>built entirely on proven open-source software and hosted on infrastructure we already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SOLUTION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Three things it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3429000" cy="64008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SEE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Complete visibility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Automatic inventory of every device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Owner, hardware, OS, software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Patch level and last check-in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828800"/>
            <a:ext cx="3429000" cy="64008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70832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Compliance on demand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Pass/fail against our security policy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Encryption, antivirus, firewall, patching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Audit-ready reports in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64424" y="1828800"/>
            <a:ext cx="3429000" cy="38404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64424" y="1828800"/>
            <a:ext cx="3429000" cy="64008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64424" y="1901952"/>
            <a:ext cx="3429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697480"/>
            <a:ext cx="2880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Automatic remediation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Push security patches and updates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Deploy and update software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•  Reaches laptops anywhere, securely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HOW IT WORKS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Simple, secure, and built for laptops that roam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194560"/>
            <a:ext cx="2926080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2926080" cy="109728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Our devices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Desktops in the office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Laptops anywhere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A tiny secure agent runs quietly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886200" y="3154680"/>
            <a:ext cx="1143000" cy="45720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2697480"/>
            <a:ext cx="1600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5A6B7B"/>
                </a:solidFill>
                <a:latin typeface="Calibri"/>
              </a:rPr>
              <a:t>Secure HTTPS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2194560"/>
            <a:ext cx="2926080" cy="237744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166360" y="2194560"/>
            <a:ext cx="292608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0" y="2468880"/>
            <a:ext cx="2651760" cy="122084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dirty="0">
                <a:solidFill>
                  <a:srgbClr val="FFFFFF"/>
                </a:solidFill>
                <a:latin typeface="Calibri"/>
              </a:rPr>
              <a:t>Our cloud</a:t>
            </a:r>
            <a:r>
              <a:rPr lang="en-US" sz="1600" b="1" dirty="0">
                <a:solidFill>
                  <a:srgbClr val="FFFFFF"/>
                </a:solidFill>
                <a:latin typeface="Calibri"/>
              </a:rPr>
              <a:t> OR Datacenter</a:t>
            </a:r>
            <a:endParaRPr sz="1600" b="1" dirty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dirty="0">
                <a:solidFill>
                  <a:srgbClr val="C8D4E0"/>
                </a:solidFill>
                <a:latin typeface="Calibri"/>
              </a:rPr>
              <a:t>•  Central management system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dirty="0">
                <a:solidFill>
                  <a:srgbClr val="C8D4E0"/>
                </a:solidFill>
                <a:latin typeface="Calibri"/>
              </a:rPr>
              <a:t>•  Stores inventory &amp; compliance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 dirty="0">
                <a:solidFill>
                  <a:srgbClr val="C8D4E0"/>
                </a:solidFill>
                <a:latin typeface="Calibri"/>
              </a:rPr>
              <a:t>•  Sends patches &amp; fixes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229600" y="3154680"/>
            <a:ext cx="1143000" cy="45720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509760" y="2194560"/>
            <a:ext cx="2194560" cy="23774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9509760" y="2194560"/>
            <a:ext cx="219456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46920" y="2468880"/>
            <a:ext cx="19202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IT team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One dashboard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Fleet-wide view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•  Act in a click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881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0B2545"/>
                </a:solidFill>
                <a:latin typeface="Calibri"/>
              </a:rPr>
              <a:t>Devices reach out to our cloud — we never need to chase them. No office network or VPN required, so a laptop at an employee's kitchen table stays just as managed and secure.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FOUNDATION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Built on trusted, widely-used open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109728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FleetDM + osquery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Industry-standard device visibility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Used by large security teams worldwide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Powers our inventory &amp; compliance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70832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70832" y="1920240"/>
            <a:ext cx="342900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99432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Tactical RMM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Patch &amp; software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Runs fixes on demand or on schedule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Handles the 'fix it' half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64424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64424" y="1920240"/>
            <a:ext cx="342900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3024" y="2176272"/>
            <a:ext cx="2971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We own it — no lock-in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No per-device licensing fees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Data stays in our cloud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Free to grow at our 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These are mature tools trusted in production by thousands of organizations — not an experiment we're inventing from scratch.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ASSURANCE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Compliance and security, built in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19202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928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8562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Disk encryption (BitLocker) on every device</a:t>
            </a:r>
          </a:p>
        </p:txBody>
      </p:sp>
      <p:sp>
        <p:nvSpPr>
          <p:cNvPr id="8" name="Oval 7"/>
          <p:cNvSpPr/>
          <p:nvPr/>
        </p:nvSpPr>
        <p:spPr>
          <a:xfrm>
            <a:off x="6355080" y="19202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8928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562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Antivirus active with current definitions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28346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8072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7706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Firewall enabled everywhere</a:t>
            </a:r>
          </a:p>
        </p:txBody>
      </p:sp>
      <p:sp>
        <p:nvSpPr>
          <p:cNvPr id="14" name="Oval 13"/>
          <p:cNvSpPr/>
          <p:nvPr/>
        </p:nvSpPr>
        <p:spPr>
          <a:xfrm>
            <a:off x="6355080" y="28346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28072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7706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Critical security patches applied on time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7490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8680" y="37216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850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Screen auto-locks when unattended</a:t>
            </a:r>
          </a:p>
        </p:txBody>
      </p:sp>
      <p:sp>
        <p:nvSpPr>
          <p:cNvPr id="20" name="Oval 19"/>
          <p:cNvSpPr/>
          <p:nvPr/>
        </p:nvSpPr>
        <p:spPr>
          <a:xfrm>
            <a:off x="6355080" y="37490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55080" y="37216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850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Required security software present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46634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6360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5994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Audit-ready evidence, exported in minutes</a:t>
            </a:r>
          </a:p>
        </p:txBody>
      </p:sp>
      <p:sp>
        <p:nvSpPr>
          <p:cNvPr id="26" name="Oval 25"/>
          <p:cNvSpPr/>
          <p:nvPr/>
        </p:nvSpPr>
        <p:spPr>
          <a:xfrm>
            <a:off x="6355080" y="4663439"/>
            <a:ext cx="292608" cy="292608"/>
          </a:xfrm>
          <a:prstGeom prst="ellipse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4636007"/>
            <a:ext cx="292608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4599431"/>
            <a:ext cx="48463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50" b="0">
                <a:solidFill>
                  <a:srgbClr val="FFFFFF"/>
                </a:solidFill>
                <a:latin typeface="Calibri"/>
              </a:rPr>
              <a:t>All management traffic encrypted end to 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ECONOMICS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A fraction of the commercial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347472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Commercial tools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C0392B"/>
                </a:solidFill>
                <a:latin typeface="Calibri Light"/>
              </a:rPr>
              <a:t>$3–7 / device / mo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~500 devices  ≈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$18,000–42,000 / year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Ongoing per-seat fees,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rising as we grow.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2544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52544" y="1874519"/>
            <a:ext cx="3474720" cy="109728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08576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This solution — AWS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13A89E"/>
                </a:solidFill>
                <a:latin typeface="Calibri Light"/>
              </a:rPr>
              <a:t>~$100 / month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≈ $1,200 / year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+ existing IT staff time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No per-seat fees;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scales to 500+ at flat cost.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6448" y="1874519"/>
            <a:ext cx="3474720" cy="3429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56448" y="1874519"/>
            <a:ext cx="3474720" cy="1097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412480" y="2167127"/>
            <a:ext cx="2962656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This solution — on-prem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1">
                <a:solidFill>
                  <a:srgbClr val="2E8B57"/>
                </a:solidFill>
                <a:latin typeface="Calibri Light"/>
              </a:rPr>
              <a:t>$0 hosting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Repurpose a server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we already own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No new hardware or licensing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— just our IT staff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5A6B7B"/>
                </a:solidFill>
                <a:latin typeface="Calibri"/>
              </a:rPr>
              <a:t>Illustrative figures. We trade software licensing cost for a modest amount of our own IT time — and we keep full control of our data. Repurposing existing on-prem hardware removes even the hosting cost.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PLAN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A low-risk, phased rollout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77240" y="1920240"/>
            <a:ext cx="3429000" cy="822960"/>
          </a:xfrm>
          <a:prstGeom prst="rect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1  ·  4–6 weeks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Proof of Concept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2 test laptops. Prove the full loop: see, prove, fix. Near-zero cost.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60520" y="3520440"/>
            <a:ext cx="256032" cy="365760"/>
          </a:xfrm>
          <a:prstGeom prst="rightArrow">
            <a:avLst/>
          </a:prstGeom>
          <a:solidFill>
            <a:srgbClr val="1B6C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70832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70832" y="1920240"/>
            <a:ext cx="3429000" cy="82296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9432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2  ·  1–2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Pilot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~50 real devices across teams. Validate at scale and refine our policies.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754112" y="3520440"/>
            <a:ext cx="256032" cy="365760"/>
          </a:xfrm>
          <a:prstGeom prst="rightArrow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964424" y="1920240"/>
            <a:ext cx="3429000" cy="35661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64424" y="1920240"/>
            <a:ext cx="3429000" cy="8229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718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Phase 3  ·  Phased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926080"/>
            <a:ext cx="2971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Fleet rollout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Roll out to all ~500 devices, group by group, with full reporting.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>
                <a:solidFill>
                  <a:srgbClr val="5A6B7B"/>
                </a:solidFill>
                <a:latin typeface="Calibri"/>
              </a:rPr>
              <a:t>We prove value on two devices before spending real money or touching the fleet. Every phase has a clear go / no-go decision.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HONEST VIEW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0B2545"/>
                </a:solidFill>
                <a:latin typeface="Calibri Light"/>
              </a:rPr>
              <a:t>Risks — and how we manage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“No vendor to call”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828800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Large communities + paid support options exist; we also fully own and control the system.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52928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Securing the central 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852928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852928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Locked-down cloud, encrypted traffic, restricted admin access — treated as critical infrastructure.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77056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877056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Relies on IT staff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877056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877056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Phased rollout keeps effort modest; the POC quantifies the real workload before we commit.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4901184"/>
            <a:ext cx="3383280" cy="86868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901184"/>
            <a:ext cx="30175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Open-source licensing terms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4901184"/>
            <a:ext cx="704088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26280" y="4901184"/>
            <a:ext cx="667512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5A6B7B"/>
                </a:solidFill>
                <a:latin typeface="Calibri"/>
              </a:rPr>
              <a:t>Reviewed for our use; one tool's license to be formally signed off before full rollout.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91695" cy="73152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502920"/>
            <a:ext cx="109728" cy="77724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411480"/>
            <a:ext cx="1078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3A89E"/>
                </a:solidFill>
                <a:latin typeface="Calibri"/>
              </a:rPr>
              <a:t>THE ASK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 Light"/>
              </a:rPr>
              <a:t>What we're requesting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2400" b="1">
                <a:solidFill>
                  <a:srgbClr val="FFFFFF"/>
                </a:solidFill>
                <a:latin typeface="Calibri Light"/>
              </a:rPr>
              <a:t>Approval to run a 4–6 week proof of concept on two test devices.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Incremental cost: near zero (free software, minimal cloud spend).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Outcome: a live demo — a device seen, proven compliant, and patched end to end.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>
                <a:solidFill>
                  <a:srgbClr val="C8D4E0"/>
                </a:solidFill>
                <a:latin typeface="Calibri"/>
              </a:rPr>
              <a:t>→   Decision point: a clear go / no-go on a wider pilot, backed by real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13A89E"/>
                </a:solidFill>
                <a:latin typeface="Calibri"/>
              </a:rPr>
              <a:t>In six weeks we can answer the question we opened with — “yes, every device is encrypted and patched, and here is the report.”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Northbridge Community Bank  ·  Endpoint Management Proposal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0080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900" b="0">
                <a:solidFill>
                  <a:srgbClr val="B8C4D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22960" y="2743200"/>
            <a:ext cx="109728" cy="1097280"/>
          </a:xfrm>
          <a:prstGeom prst="rect">
            <a:avLst/>
          </a:prstGeom>
          <a:solidFill>
            <a:srgbClr val="13A8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144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 Light"/>
              </a:rPr>
              <a:t>Thank you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>
                <a:solidFill>
                  <a:srgbClr val="C8D4E0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1724</Words>
  <Application>Microsoft Macintosh PowerPoint</Application>
  <PresentationFormat>Widescreen</PresentationFormat>
  <Paragraphs>181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Yemru, Ephrem B /CS</cp:lastModifiedBy>
  <cp:revision>2</cp:revision>
  <dcterms:created xsi:type="dcterms:W3CDTF">2013-01-27T09:14:16Z</dcterms:created>
  <dcterms:modified xsi:type="dcterms:W3CDTF">2026-06-21T20:46:53Z</dcterms:modified>
  <cp:category/>
</cp:coreProperties>
</file>