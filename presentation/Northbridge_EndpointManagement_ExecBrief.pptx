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 of this briefing: get approval to run a low-cost, low-risk proof of concept. The headline: we can close a real security and audit gap using proven open-source software, at a fraction of commercial cost. Keep it to ~15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question an auditor, regulator, or the board could ask at any time. The honest answer today is 'we're not sure' — and that is the gap this proposal closes. Let it land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statement of reality. No blame — the team has done well with manual process, but it doesn't scale and it doesn't give us assurance. Emphasize the roaming laptops: they're the hardest to reach and the highest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the technical gap into business risk an exec feels: breach liability, ransomware downtime, and regulatory findings. For a community bank, trust and reputation are the franchise — this protects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from problem to solution. Three verbs to remember: KNOW, PROVE, FIX. Stress 'open-source' and 'infrastructure we control' — that's the cost and data-sovereignty story execs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the pitch. KNOW / PROVE / FIX. Note that 'FIX' working for roaming laptops is the differentiator — the device phones home securely, so we reach it even when it's at an employee's 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non-technical. The one idea: devices 'phone home' over the same kind of secure connection as online banking, so we manage them wherever they are. No inbound access to the laptop is ever needed — that's also a security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'is open source safe/serious?' question. These are battle-tested tools. Open source here means transparency and no licensing tax — not amateur hour. We assemble proven parts rather than build from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for the audit/compliance-minded exec. Each item maps to a real control we can prove on demand. Tie back to the opening question: now we can answer 'yes, and here's the report.'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transparent: the numbers are illustrative ranges, not quotes. The honest trade-off is licensing dollars vs. internal staff time. Even costing our time, the savings are large — and the data stays in-house.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De-risk the ask. We're not betting the bank — we're asking to prove it on two machines first. Each phase gates the next, so the exec controls the spend and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 risks builds credibility. None are show-stoppers, and the POC is designed precisely to test the open questions (effort, fit) cheaply. Address the 'no vendor' worry head-on — it's the most common executive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close. Make the ask concrete, small, and reversible: six weeks, two devices, near-zero cost, a clear decision afterward. Return to the opening question to bookend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discussion. Have the requirements and design docs ready as backup if a technical question comes up, but keep the room on the business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19472"/>
            <a:ext cx="12191695" cy="1938528"/>
          </a:xfrm>
          <a:prstGeom prst="rect">
            <a:avLst/>
          </a:prstGeom>
          <a:solidFill>
            <a:srgbClr val="091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Securing Every Endpoint —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400" b="1">
                <a:solidFill>
                  <a:srgbClr val="13A89E"/>
                </a:solidFill>
                <a:latin typeface="Calibri Light"/>
              </a:rPr>
              <a:t>Without the Enterprise Price Tag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C8D4E0"/>
                </a:solidFill>
                <a:latin typeface="Calibri"/>
              </a:rPr>
              <a:t>An open-source approach to knowing, securing, and patching every device we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Executive Briefing  ·  Information Technology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B8C4D0"/>
                </a:solidFill>
                <a:latin typeface="Calibri"/>
              </a:rPr>
              <a:t>Northbridge Community Bank   |   Prepared for the Executive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400" b="1">
                <a:solidFill>
                  <a:srgbClr val="0B2545"/>
                </a:solidFill>
                <a:latin typeface="Calibri Light"/>
              </a:rPr>
              <a:t>“Is every laptop we own encrypted and fully patched?”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Today, we answer that question with spreadsheets and guesswork — not in minutes, and not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CURRENT STATE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Where we stand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0B2545"/>
                </a:solidFill>
                <a:latin typeface="Calibri"/>
              </a:rPr>
              <a:t>•   ~500 Windows devices — roughly 350 in-office desktops and 150 laptops that leave the building.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0B2545"/>
                </a:solidFill>
                <a:latin typeface="Calibri"/>
              </a:rPr>
              <a:t>•   Patching is manual and inconsistent — no guarantee a laptop in the field is up to date.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0B2545"/>
                </a:solidFill>
                <a:latin typeface="Calibri"/>
              </a:rPr>
              <a:t>•   No central inventory — we can't quickly say who has what, or its security status.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0B2545"/>
                </a:solidFill>
                <a:latin typeface="Calibri"/>
              </a:rPr>
              <a:t>•   Compliance evidence is a fire drill — assembled by hand each time an audit asks.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0B2545"/>
                </a:solidFill>
                <a:latin typeface="Calibri"/>
              </a:rPr>
              <a:t>•   No budget for commercial tools — Intune, Tanium, and the like are priced per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THE STAKES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Why this matters for a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429000" cy="3931920"/>
          </a:xfrm>
          <a:prstGeom prst="rect">
            <a:avLst/>
          </a:prstGeom>
          <a:solidFill>
            <a:srgbClr val="10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900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880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Data breach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4E0"/>
                </a:solidFill>
                <a:latin typeface="Calibri"/>
              </a:rPr>
              <a:t>One lost or stolen unencrypted laptop can expose customer data — a reportable breach with regulatory penalties.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783080"/>
            <a:ext cx="3429000" cy="3931920"/>
          </a:xfrm>
          <a:prstGeom prst="rect">
            <a:avLst/>
          </a:prstGeom>
          <a:solidFill>
            <a:srgbClr val="10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783080"/>
            <a:ext cx="342900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194560"/>
            <a:ext cx="2880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Ransomware / exploit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4E0"/>
                </a:solidFill>
                <a:latin typeface="Calibri"/>
              </a:rPr>
              <a:t>Unpatched devices are the most common entry point for attackers. Every missing patch is an open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4424" y="1783080"/>
            <a:ext cx="3429000" cy="3931920"/>
          </a:xfrm>
          <a:prstGeom prst="rect">
            <a:avLst/>
          </a:prstGeom>
          <a:solidFill>
            <a:srgbClr val="10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4424" y="1783080"/>
            <a:ext cx="3429000" cy="128016"/>
          </a:xfrm>
          <a:prstGeom prst="rect">
            <a:avLst/>
          </a:prstGeom>
          <a:solidFill>
            <a:srgbClr val="D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194560"/>
            <a:ext cx="2880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Audit &amp; regulatory findings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4E0"/>
                </a:solidFill>
                <a:latin typeface="Calibri"/>
              </a:rPr>
              <a:t>Inability to prove device compliance on demand leads to findings, remediation costs, and scrutiny.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B8C4D0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B8C4D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3A89E"/>
                </a:solidFill>
                <a:latin typeface="Calibri"/>
              </a:rPr>
              <a:t>The opportunity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0B2545"/>
                </a:solidFill>
                <a:latin typeface="Calibri Light"/>
              </a:rPr>
              <a:t>One system that knows every device, proves compliance on demand, and fixes problems automatically —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B6CA8"/>
                </a:solidFill>
                <a:latin typeface="Calibri"/>
              </a:rPr>
              <a:t>built entirely on proven open-source software and hosted on infrastructure we already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THE SOLUTION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Three things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3429000" cy="3840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3429000" cy="64008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880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Complete visibility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Automatic inventory of every device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Owner, hardware, OS, software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Patch level and last check-in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429000" cy="3840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3429000" cy="64008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901952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697480"/>
            <a:ext cx="2880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Compliance on demand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Pass/fail against our security policy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Encryption, antivirus, firewall, patching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Audit-ready reports in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4424" y="1828800"/>
            <a:ext cx="3429000" cy="3840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4424" y="1828800"/>
            <a:ext cx="342900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64424" y="1901952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697480"/>
            <a:ext cx="2880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Automatic remediation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Push security patches and updates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Deploy and update software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•  Reaches laptops anywhere, securely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HOW IT WORKS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Simple, secure, and built for laptops that roam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2926080" cy="2377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2926080" cy="109728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Our devices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•  Desktops in the office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•  Laptops anywhere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•  A tiny secure agent runs quietly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3154680"/>
            <a:ext cx="1143000" cy="457200"/>
          </a:xfrm>
          <a:prstGeom prst="rightArrow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9748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Secure HTTPS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2194560"/>
            <a:ext cx="2926080" cy="2377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2194560"/>
            <a:ext cx="292608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46888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Our cloud (AWS)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C8D4E0"/>
                </a:solidFill>
                <a:latin typeface="Calibri"/>
              </a:rPr>
              <a:t>•  Central management system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C8D4E0"/>
                </a:solidFill>
                <a:latin typeface="Calibri"/>
              </a:rPr>
              <a:t>•  Stores inventory &amp; compliance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C8D4E0"/>
                </a:solidFill>
                <a:latin typeface="Calibri"/>
              </a:rPr>
              <a:t>•  Sends patches &amp; fixes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3154680"/>
            <a:ext cx="1143000" cy="457200"/>
          </a:xfrm>
          <a:prstGeom prst="rightArrow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2194560"/>
            <a:ext cx="2194560" cy="2377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2194560"/>
            <a:ext cx="219456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468880"/>
            <a:ext cx="1920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IT team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•  One dashboard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•  Fleet-wide view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•  Act in a 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B2545"/>
                </a:solidFill>
                <a:latin typeface="Calibri"/>
              </a:rPr>
              <a:t>Devices reach out to our cloud — we never need to chase them. No office network or VPN required, so a laptop at an employee's kitchen table stays just as managed and secure.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FOUNDATION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Built on trusted, widely-used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42900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429000" cy="109728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76272"/>
            <a:ext cx="2971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FleetDM + osquery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Industry-standard device visibility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Used by large security teams worldwide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Powers our inventory &amp;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920240"/>
            <a:ext cx="342900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920240"/>
            <a:ext cx="3429000" cy="10972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76272"/>
            <a:ext cx="2971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Tactical RMM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Patch &amp; software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Runs fixes on demand or on schedule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Handles the 'fix it' half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4424" y="1920240"/>
            <a:ext cx="342900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4424" y="1920240"/>
            <a:ext cx="342900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176272"/>
            <a:ext cx="2971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We own it — no lock-in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No per-device licensing fees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Data stays in our cloud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Free to grow at our 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These are mature tools trusted in production by thousands of organizations — not an experiment we're inventing from scratch.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ASSURANCE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Compliance and security, built in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9202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562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Disk encryption (BitLocker) on every device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19202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928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562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Antivirus active with current definitions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8346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072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706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Firewall enabled everywhere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8346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8072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7706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Critical security patches applied on time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7490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216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850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Screen auto-locks when unattended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37490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216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850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Required security software present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6634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360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994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Audit-ready evidence, exported in minutes</a:t>
            </a:r>
          </a:p>
        </p:txBody>
      </p:sp>
      <p:sp>
        <p:nvSpPr>
          <p:cNvPr id="26" name="Oval 25"/>
          <p:cNvSpPr/>
          <p:nvPr/>
        </p:nvSpPr>
        <p:spPr>
          <a:xfrm>
            <a:off x="6355080" y="4663439"/>
            <a:ext cx="292608" cy="292608"/>
          </a:xfrm>
          <a:prstGeom prst="ellipse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636007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99431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All management traffic encrypted end to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B8C4D0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B8C4D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THE ECONOMICS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A fraction of the commercial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120640" cy="3291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12064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Commercial tools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$3–7 per device, per month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B7B"/>
                </a:solidFill>
                <a:latin typeface="Calibri"/>
              </a:rPr>
              <a:t>~500 devices  ≈  $18,000–42,000 / year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Ongoing, per-seat, and rising as we grow.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120640" cy="3291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5720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This solution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~$100 / month hosting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B7B"/>
                </a:solidFill>
                <a:latin typeface="Calibri"/>
              </a:rPr>
              <a:t>≈ $1,200 / year  +  existing IT staff time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No per-seat fees. Scales to 500+ at the same low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Illustrative figures. The trade is software licensing cost for a modest amount of our own engineering time — and we keep full control of our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THE PLAN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A low-risk, phased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42900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429000" cy="82296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Phase 1  ·  4–6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Proof of Concept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2 test laptops. Prove the full loop: see, prove, fix. Near-zero cost.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0520" y="3520440"/>
            <a:ext cx="256032" cy="365760"/>
          </a:xfrm>
          <a:prstGeom prst="rightArrow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42900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920240"/>
            <a:ext cx="3429000" cy="82296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Phase 2  ·  1–2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26080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Pilot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~50 real devices across teams. Validate at scale and refine our policies.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54112" y="3520440"/>
            <a:ext cx="256032" cy="365760"/>
          </a:xfrm>
          <a:prstGeom prst="rightArrow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64424" y="1920240"/>
            <a:ext cx="342900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4424" y="1920240"/>
            <a:ext cx="3429000" cy="8229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1168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Phase 3  ·  Phased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926080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Fleet rollout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Roll out to all ~500 devices, group by group, with full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We prove value on two devices before spending real money or touching the fleet. Every phase has a clear go / no-go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HONEST 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B2545"/>
                </a:solidFill>
                <a:latin typeface="Calibri Light"/>
              </a:rPr>
              <a:t>Risks — and how we manage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38328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“No vendor to call”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70408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6675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Large communities + paid support options exist; we also fully own and control the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52928"/>
            <a:ext cx="338328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Securing the central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52928"/>
            <a:ext cx="70408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852928"/>
            <a:ext cx="6675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Locked-down cloud, encrypted traffic, restricted admin access — treated as critical infrastructure.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77056"/>
            <a:ext cx="338328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77056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Relies on IT staff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877056"/>
            <a:ext cx="70408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877056"/>
            <a:ext cx="6675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Phased rollout keeps effort modest; the POC quantifies the real workload before we commit.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01184"/>
            <a:ext cx="338328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01184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Open-source licensing terms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901184"/>
            <a:ext cx="704088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901184"/>
            <a:ext cx="6675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Reviewed for our use; one tool's license to be formally signed off before full rollout.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A89E"/>
                </a:solidFill>
                <a:latin typeface="Calibri"/>
              </a:rPr>
              <a:t>THE ASK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What we're requesting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>
                <a:solidFill>
                  <a:srgbClr val="FFFFFF"/>
                </a:solidFill>
                <a:latin typeface="Calibri Light"/>
              </a:rPr>
              <a:t>Approval to run a 4–6 week proof of concept on two test devices.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C8D4E0"/>
                </a:solidFill>
                <a:latin typeface="Calibri"/>
              </a:rPr>
              <a:t>→   Incremental cost: near zero (free software, minimal cloud spend).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C8D4E0"/>
                </a:solidFill>
                <a:latin typeface="Calibri"/>
              </a:rPr>
              <a:t>→   Outcome: a live demo — a device seen, proven compliant, and patched end to end.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C8D4E0"/>
                </a:solidFill>
                <a:latin typeface="Calibri"/>
              </a:rPr>
              <a:t>→   Decision point: a clear go / no-go on a wider pilot, backed by real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3A89E"/>
                </a:solidFill>
                <a:latin typeface="Calibri"/>
              </a:rPr>
              <a:t>In six weeks we can answer the question we opened with — “yes, every device is encrypted and patched, and here is the report.”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B8C4D0"/>
                </a:solidFill>
                <a:latin typeface="Calibri"/>
              </a:rPr>
              <a:t>Northbridge Community Bank  ·  Endpoint Management Proposal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B8C4D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09728" cy="109728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C8D4E0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