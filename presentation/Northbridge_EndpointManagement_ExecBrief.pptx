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Goal of this briefing: get approval to run a low-cost, low-risk proof of concept. The headline: we can close a real security and audit gap using proven open-source software, at a fraction of commercial cost. Keep it to ~15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question an auditor, regulator, or the board could ask at any time. The honest answer today is 'we're not sure' — and that is the gap this proposal closes. Let it land before moving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Plain statement of reality. No blame — the team has done well with manual process, but it doesn't scale and it doesn't give us assurance. Emphasize the roaming laptops: they're the hardest to reach and the highest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Translate the technical gap into business risk an exec feels: breach liability, ransomware downtime, and regulatory findings. For a community bank, trust and reputation are the franchise — this protects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pivot from problem to solution. Three verbs to remember: KNOW, PROVE, FIX. Stress 'open-source' and 'infrastructure we control' — that's the cost and data-sovereignty story execs care about.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heart of the pitch. KNOW / PROVE / FIX. Note that 'FIX' working for roaming laptops is the differentiator — the device phones home securely, so we reach it even when it's at an employee's house.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this non-technical. The one idea: devices 'phone home' over the same kind of secure connection as online banking, so we manage them wherever they are. No inbound access to the laptop is ever needed — that's also a security win.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Pre-empt the 'is open source safe/serious?' question. These are battle-tested tools. Open source here means transparency and no licensing tax — not amateur hour. We assemble proven parts rather than build from zero.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for the audit/compliance-minded exec. Each item maps to a real control we can prove on demand. Tie back to the opening question: now we can answer 'yes, and here's the report.'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Reframe for ~10k with high availability. The commercial line is per-seat and enormous at scale (~$360-840k/yr). Our cost is infrastructure — even highly available it's ~$18-42k/yr, and it does NOT scale per-device, so the savings gap widens as the fleet grows. Numbers are illustrative ranges pending a formal sizing exercise; be honest about that if pressed.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De-risk the ask. We're not betting the bank — we're asking to prove it on two machines first. Each phase gates the next, so the exec controls the spend and 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Showing the risks builds credibility. None are show-stoppers, and the POC is designed precisely to test the open questions (effort, fit) cheaply. Address the 'no vendor' worry head-on — it's the most common executive objection.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close. Make the ask concrete, small, and reversible: six weeks, two devices, near-zero cost, a clear decision afterward. Return to the opening question to bookend the 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Invite discussion. Have the requirements and design docs ready as backup if a technical question comes up, but keep the room on the business case.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46320"/>
            <a:ext cx="12191695" cy="73152"/>
          </a:xfrm>
          <a:prstGeom prst="rect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919472"/>
            <a:ext cx="12191695" cy="1938528"/>
          </a:xfrm>
          <a:prstGeom prst="rect">
            <a:avLst/>
          </a:prstGeom>
          <a:solidFill>
            <a:srgbClr val="091E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Calibri Light"/>
              </a:rPr>
              <a:t>Securing Every Endpoint —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4400" b="1">
                <a:solidFill>
                  <a:srgbClr val="13A89E"/>
                </a:solidFill>
                <a:latin typeface="Calibri Light"/>
              </a:rPr>
              <a:t>Without the Enterprise Price Tag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>
                <a:solidFill>
                  <a:srgbClr val="C8D4E0"/>
                </a:solidFill>
                <a:latin typeface="Calibri"/>
              </a:rPr>
              <a:t>An open-source approach to knowing, securing, and patching every device we own.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21208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Executive Briefing  ·  Information Technology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B8C4D0"/>
                </a:solidFill>
                <a:latin typeface="Calibri"/>
              </a:rPr>
              <a:t>Northbridge Community Bank   |   Prepared for the Executive Team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011680"/>
            <a:ext cx="10058400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3400" b="1">
                <a:solidFill>
                  <a:srgbClr val="0B2545"/>
                </a:solidFill>
                <a:latin typeface="Calibri Light"/>
              </a:rPr>
              <a:t>“Is every laptop we own encrypted and fully patched?”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>
                <a:solidFill>
                  <a:srgbClr val="5A6B7B"/>
                </a:solidFill>
                <a:latin typeface="Calibri"/>
              </a:rPr>
              <a:t>Today, we answer that question with spreadsheets and guesswork — not in minutes, and not with confidence.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900" b="0">
                <a:solidFill>
                  <a:srgbClr val="5A6B7B"/>
                </a:solidFill>
                <a:latin typeface="Calibri"/>
              </a:rPr>
              <a:t>Northbridge Community Bank  ·  Endpoint Management Proposal  · 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0080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900" b="0">
                <a:solidFill>
                  <a:srgbClr val="5A6B7B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09728" cy="777240"/>
          </a:xfrm>
          <a:prstGeom prst="rect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3A89E"/>
                </a:solidFill>
                <a:latin typeface="Calibri"/>
              </a:rPr>
              <a:t>CURRENT STATE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000" b="1">
                <a:solidFill>
                  <a:srgbClr val="0B2545"/>
                </a:solidFill>
                <a:latin typeface="Calibri Light"/>
              </a:rPr>
              <a:t>Where we stand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1042416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1800" b="0">
                <a:solidFill>
                  <a:srgbClr val="0B2545"/>
                </a:solidFill>
                <a:latin typeface="Calibri"/>
              </a:rPr>
              <a:t>•   ~10,000 Windows devices across the organization — desktops in offices and laptops in the field.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1800" b="0">
                <a:solidFill>
                  <a:srgbClr val="0B2545"/>
                </a:solidFill>
                <a:latin typeface="Calibri"/>
              </a:rPr>
              <a:t>•   Patching is manual and inconsistent — no guarantee a laptop in the field is up to date.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1800" b="0">
                <a:solidFill>
                  <a:srgbClr val="0B2545"/>
                </a:solidFill>
                <a:latin typeface="Calibri"/>
              </a:rPr>
              <a:t>•   No central inventory — we can't quickly say who has what, or its security status.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1800" b="0">
                <a:solidFill>
                  <a:srgbClr val="0B2545"/>
                </a:solidFill>
                <a:latin typeface="Calibri"/>
              </a:rPr>
              <a:t>•   Compliance evidence is a fire drill — assembled by hand each time an audit asks.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1800" b="0">
                <a:solidFill>
                  <a:srgbClr val="0B2545"/>
                </a:solidFill>
                <a:latin typeface="Calibri"/>
              </a:rPr>
              <a:t>•   Commercial tools are priced per device — at this scale, that's six figures a year.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900" b="0">
                <a:solidFill>
                  <a:srgbClr val="5A6B7B"/>
                </a:solidFill>
                <a:latin typeface="Calibri"/>
              </a:rPr>
              <a:t>Northbridge Community Bank  ·  Endpoint Management Proposal  · 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0080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900" b="0">
                <a:solidFill>
                  <a:srgbClr val="5A6B7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09728" cy="777240"/>
          </a:xfrm>
          <a:prstGeom prst="rect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3A89E"/>
                </a:solidFill>
                <a:latin typeface="Calibri"/>
              </a:rPr>
              <a:t>THE STAKES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Calibri Light"/>
              </a:rPr>
              <a:t>Why this matters for a bank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783080"/>
            <a:ext cx="3429000" cy="3931920"/>
          </a:xfrm>
          <a:prstGeom prst="rect">
            <a:avLst/>
          </a:prstGeom>
          <a:solidFill>
            <a:srgbClr val="10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429000" cy="12801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194560"/>
            <a:ext cx="288036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Data breach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>
                <a:solidFill>
                  <a:srgbClr val="C8D4E0"/>
                </a:solidFill>
                <a:latin typeface="Calibri"/>
              </a:rPr>
              <a:t>One lost or stolen unencrypted laptop can expose customer data — a reportable breach with regulatory penalties.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70832" y="1783080"/>
            <a:ext cx="3429000" cy="3931920"/>
          </a:xfrm>
          <a:prstGeom prst="rect">
            <a:avLst/>
          </a:prstGeom>
          <a:solidFill>
            <a:srgbClr val="10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70832" y="1783080"/>
            <a:ext cx="3429000" cy="12801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45152" y="2194560"/>
            <a:ext cx="288036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Ransomware / exploit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>
                <a:solidFill>
                  <a:srgbClr val="C8D4E0"/>
                </a:solidFill>
                <a:latin typeface="Calibri"/>
              </a:rPr>
              <a:t>Unpatched devices are the most common entry point for attackers. Every missing patch is an open door.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64424" y="1783080"/>
            <a:ext cx="3429000" cy="3931920"/>
          </a:xfrm>
          <a:prstGeom prst="rect">
            <a:avLst/>
          </a:prstGeom>
          <a:solidFill>
            <a:srgbClr val="10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64424" y="1783080"/>
            <a:ext cx="3429000" cy="128016"/>
          </a:xfrm>
          <a:prstGeom prst="rect">
            <a:avLst/>
          </a:prstGeom>
          <a:solidFill>
            <a:srgbClr val="D88C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38744" y="2194560"/>
            <a:ext cx="288036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Audit &amp; regulatory findings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>
                <a:solidFill>
                  <a:srgbClr val="C8D4E0"/>
                </a:solidFill>
                <a:latin typeface="Calibri"/>
              </a:rPr>
              <a:t>Inability to prove device compliance on demand leads to findings, remediation costs, and scrutiny.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900" b="0">
                <a:solidFill>
                  <a:srgbClr val="B8C4D0"/>
                </a:solidFill>
                <a:latin typeface="Calibri"/>
              </a:rPr>
              <a:t>Northbridge Community Bank  ·  Endpoint Management Proposal  ·  Confidential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0080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900" b="0">
                <a:solidFill>
                  <a:srgbClr val="B8C4D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920240"/>
            <a:ext cx="10058400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3A89E"/>
                </a:solidFill>
                <a:latin typeface="Calibri"/>
              </a:rPr>
              <a:t>The opportunity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800" b="1">
                <a:solidFill>
                  <a:srgbClr val="0B2545"/>
                </a:solidFill>
                <a:latin typeface="Calibri Light"/>
              </a:rPr>
              <a:t>One system that knows every device, proves compliance on demand, and fixes problems automatically —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1B6CA8"/>
                </a:solidFill>
                <a:latin typeface="Calibri"/>
              </a:rPr>
              <a:t>built entirely on proven open-source software and hosted on infrastructure we already control.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900" b="0">
                <a:solidFill>
                  <a:srgbClr val="5A6B7B"/>
                </a:solidFill>
                <a:latin typeface="Calibri"/>
              </a:rPr>
              <a:t>Northbridge Community Bank  ·  Endpoint Management Proposal  · 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0080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900" b="0">
                <a:solidFill>
                  <a:srgbClr val="5A6B7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09728" cy="777240"/>
          </a:xfrm>
          <a:prstGeom prst="rect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3A89E"/>
                </a:solidFill>
                <a:latin typeface="Calibri"/>
              </a:rPr>
              <a:t>THE SOLUTION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000" b="1">
                <a:solidFill>
                  <a:srgbClr val="0B2545"/>
                </a:solidFill>
                <a:latin typeface="Calibri Light"/>
              </a:rPr>
              <a:t>Three things it does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28800"/>
            <a:ext cx="3429000" cy="384048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28800"/>
            <a:ext cx="3429000" cy="640080"/>
          </a:xfrm>
          <a:prstGeom prst="rect">
            <a:avLst/>
          </a:prstGeom>
          <a:solidFill>
            <a:srgbClr val="1B6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01952"/>
            <a:ext cx="3429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SEE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697480"/>
            <a:ext cx="28803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1">
                <a:solidFill>
                  <a:srgbClr val="0B2545"/>
                </a:solidFill>
                <a:latin typeface="Calibri"/>
              </a:rPr>
              <a:t>Complete visibility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5A6B7B"/>
                </a:solidFill>
                <a:latin typeface="Calibri"/>
              </a:rPr>
              <a:t>•  Automatic inventory of every device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5A6B7B"/>
                </a:solidFill>
                <a:latin typeface="Calibri"/>
              </a:rPr>
              <a:t>•  Owner, hardware, OS, software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5A6B7B"/>
                </a:solidFill>
                <a:latin typeface="Calibri"/>
              </a:rPr>
              <a:t>•  Patch level and last check-in</a:t>
            </a:r>
          </a:p>
        </p:txBody>
      </p:sp>
      <p:sp>
        <p:nvSpPr>
          <p:cNvPr id="9" name="Rectangle 8"/>
          <p:cNvSpPr/>
          <p:nvPr/>
        </p:nvSpPr>
        <p:spPr>
          <a:xfrm>
            <a:off x="4370832" y="1828800"/>
            <a:ext cx="3429000" cy="384048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70832" y="1828800"/>
            <a:ext cx="3429000" cy="640080"/>
          </a:xfrm>
          <a:prstGeom prst="rect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70832" y="1901952"/>
            <a:ext cx="3429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PROVE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5152" y="2697480"/>
            <a:ext cx="28803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1">
                <a:solidFill>
                  <a:srgbClr val="0B2545"/>
                </a:solidFill>
                <a:latin typeface="Calibri"/>
              </a:rPr>
              <a:t>Compliance on demand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5A6B7B"/>
                </a:solidFill>
                <a:latin typeface="Calibri"/>
              </a:rPr>
              <a:t>•  Pass/fail against our security policy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5A6B7B"/>
                </a:solidFill>
                <a:latin typeface="Calibri"/>
              </a:rPr>
              <a:t>•  Encryption, antivirus, firewall, patching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5A6B7B"/>
                </a:solidFill>
                <a:latin typeface="Calibri"/>
              </a:rPr>
              <a:t>•  Audit-ready reports in minutes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64424" y="1828800"/>
            <a:ext cx="3429000" cy="384048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64424" y="1828800"/>
            <a:ext cx="3429000" cy="64008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64424" y="1901952"/>
            <a:ext cx="3429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FIX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38744" y="2697480"/>
            <a:ext cx="28803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1">
                <a:solidFill>
                  <a:srgbClr val="0B2545"/>
                </a:solidFill>
                <a:latin typeface="Calibri"/>
              </a:rPr>
              <a:t>Automatic remediation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5A6B7B"/>
                </a:solidFill>
                <a:latin typeface="Calibri"/>
              </a:rPr>
              <a:t>•  Push security patches and updates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5A6B7B"/>
                </a:solidFill>
                <a:latin typeface="Calibri"/>
              </a:rPr>
              <a:t>•  Deploy and update software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5A6B7B"/>
                </a:solidFill>
                <a:latin typeface="Calibri"/>
              </a:rPr>
              <a:t>•  Reaches laptops anywhere, securely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900" b="0">
                <a:solidFill>
                  <a:srgbClr val="5A6B7B"/>
                </a:solidFill>
                <a:latin typeface="Calibri"/>
              </a:rPr>
              <a:t>Northbridge Community Bank  ·  Endpoint Management Proposal  ·  Confidential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0" y="640080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900" b="0">
                <a:solidFill>
                  <a:srgbClr val="5A6B7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09728" cy="777240"/>
          </a:xfrm>
          <a:prstGeom prst="rect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3A89E"/>
                </a:solidFill>
                <a:latin typeface="Calibri"/>
              </a:rPr>
              <a:t>HOW IT WORKS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000" b="1">
                <a:solidFill>
                  <a:srgbClr val="0B2545"/>
                </a:solidFill>
                <a:latin typeface="Calibri Light"/>
              </a:rPr>
              <a:t>Simple, secure, and built for laptops that roam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194560"/>
            <a:ext cx="2926080" cy="237744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94560"/>
            <a:ext cx="2926080" cy="109728"/>
          </a:xfrm>
          <a:prstGeom prst="rect">
            <a:avLst/>
          </a:prstGeom>
          <a:solidFill>
            <a:srgbClr val="1B6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468880"/>
            <a:ext cx="26517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0B2545"/>
                </a:solidFill>
                <a:latin typeface="Calibri"/>
              </a:rPr>
              <a:t>Our devices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5A6B7B"/>
                </a:solidFill>
                <a:latin typeface="Calibri"/>
              </a:rPr>
              <a:t>•  Desktops in the office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5A6B7B"/>
                </a:solidFill>
                <a:latin typeface="Calibri"/>
              </a:rPr>
              <a:t>•  Laptops anywhere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5A6B7B"/>
                </a:solidFill>
                <a:latin typeface="Calibri"/>
              </a:rPr>
              <a:t>•  A tiny secure agent runs quietly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886200" y="3154680"/>
            <a:ext cx="1143000" cy="457200"/>
          </a:xfrm>
          <a:prstGeom prst="rightArrow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2697480"/>
            <a:ext cx="1600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5A6B7B"/>
                </a:solidFill>
                <a:latin typeface="Calibri"/>
              </a:rPr>
              <a:t>Secure HTTPS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66360" y="2194560"/>
            <a:ext cx="2926080" cy="237744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66360" y="2194560"/>
            <a:ext cx="2926080" cy="109728"/>
          </a:xfrm>
          <a:prstGeom prst="rect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0" y="2468880"/>
            <a:ext cx="26517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Our cloud (AWS)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C8D4E0"/>
                </a:solidFill>
                <a:latin typeface="Calibri"/>
              </a:rPr>
              <a:t>•  Central management system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C8D4E0"/>
                </a:solidFill>
                <a:latin typeface="Calibri"/>
              </a:rPr>
              <a:t>•  Stores inventory &amp; compliance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C8D4E0"/>
                </a:solidFill>
                <a:latin typeface="Calibri"/>
              </a:rPr>
              <a:t>•  Sends patches &amp; fixes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229600" y="3154680"/>
            <a:ext cx="1143000" cy="457200"/>
          </a:xfrm>
          <a:prstGeom prst="rightArrow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509760" y="2194560"/>
            <a:ext cx="2194560" cy="237744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509760" y="2194560"/>
            <a:ext cx="2194560" cy="10972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46920" y="2468880"/>
            <a:ext cx="19202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0B2545"/>
                </a:solidFill>
                <a:latin typeface="Calibri"/>
              </a:rPr>
              <a:t>IT team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5A6B7B"/>
                </a:solidFill>
                <a:latin typeface="Calibri"/>
              </a:rPr>
              <a:t>•  One dashboard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5A6B7B"/>
                </a:solidFill>
                <a:latin typeface="Calibri"/>
              </a:rPr>
              <a:t>•  Fleet-wide view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5A6B7B"/>
                </a:solidFill>
                <a:latin typeface="Calibri"/>
              </a:rPr>
              <a:t>•  Act in a click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93776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0B2545"/>
                </a:solidFill>
                <a:latin typeface="Calibri"/>
              </a:rPr>
              <a:t>Devices reach out to our cloud — we never need to chase them. No office network or VPN required, so a laptop at an employee's kitchen table stays just as managed and secure.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900" b="0">
                <a:solidFill>
                  <a:srgbClr val="5A6B7B"/>
                </a:solidFill>
                <a:latin typeface="Calibri"/>
              </a:rPr>
              <a:t>Northbridge Community Bank  ·  Endpoint Management Proposal  ·  Confidential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0" y="640080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900" b="0">
                <a:solidFill>
                  <a:srgbClr val="5A6B7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09728" cy="777240"/>
          </a:xfrm>
          <a:prstGeom prst="rect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3A89E"/>
                </a:solidFill>
                <a:latin typeface="Calibri"/>
              </a:rPr>
              <a:t>FOUNDATION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000" b="1">
                <a:solidFill>
                  <a:srgbClr val="0B2545"/>
                </a:solidFill>
                <a:latin typeface="Calibri Light"/>
              </a:rPr>
              <a:t>Built on trusted, widely-used open source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20240"/>
            <a:ext cx="3429000" cy="356616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920240"/>
            <a:ext cx="3429000" cy="109728"/>
          </a:xfrm>
          <a:prstGeom prst="rect">
            <a:avLst/>
          </a:prstGeom>
          <a:solidFill>
            <a:srgbClr val="1B6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76272"/>
            <a:ext cx="29718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B2545"/>
                </a:solidFill>
                <a:latin typeface="Calibri"/>
              </a:rPr>
              <a:t>FleetDM + osquery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5A6B7B"/>
                </a:solidFill>
                <a:latin typeface="Calibri"/>
              </a:rPr>
              <a:t>Industry-standard device visibility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5A6B7B"/>
                </a:solidFill>
                <a:latin typeface="Calibri"/>
              </a:rPr>
              <a:t>Used by large security teams worldwide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5A6B7B"/>
                </a:solidFill>
                <a:latin typeface="Calibri"/>
              </a:rPr>
              <a:t>Powers our inventory &amp; compliance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4370832" y="1920240"/>
            <a:ext cx="3429000" cy="356616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70832" y="1920240"/>
            <a:ext cx="3429000" cy="109728"/>
          </a:xfrm>
          <a:prstGeom prst="rect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9432" y="2176272"/>
            <a:ext cx="29718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B2545"/>
                </a:solidFill>
                <a:latin typeface="Calibri"/>
              </a:rPr>
              <a:t>Tactical RMM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5A6B7B"/>
                </a:solidFill>
                <a:latin typeface="Calibri"/>
              </a:rPr>
              <a:t>Patch &amp; software deployment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5A6B7B"/>
                </a:solidFill>
                <a:latin typeface="Calibri"/>
              </a:rPr>
              <a:t>Runs fixes on demand or on schedule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5A6B7B"/>
                </a:solidFill>
                <a:latin typeface="Calibri"/>
              </a:rPr>
              <a:t>Handles the 'fix it' half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64424" y="1920240"/>
            <a:ext cx="3429000" cy="356616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64424" y="1920240"/>
            <a:ext cx="3429000" cy="10972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93024" y="2176272"/>
            <a:ext cx="29718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B2545"/>
                </a:solidFill>
                <a:latin typeface="Calibri"/>
              </a:rPr>
              <a:t>We own it — no lock-in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5A6B7B"/>
                </a:solidFill>
                <a:latin typeface="Calibri"/>
              </a:rPr>
              <a:t>No per-device licensing fees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5A6B7B"/>
                </a:solidFill>
                <a:latin typeface="Calibri"/>
              </a:rPr>
              <a:t>Data stays in our cloud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5A6B7B"/>
                </a:solidFill>
                <a:latin typeface="Calibri"/>
              </a:rPr>
              <a:t>Free to grow at our pace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66928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>
                <a:solidFill>
                  <a:srgbClr val="5A6B7B"/>
                </a:solidFill>
                <a:latin typeface="Calibri"/>
              </a:rPr>
              <a:t>These are mature tools trusted in production by thousands of organizations — not an experiment we're inventing from scratch.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900" b="0">
                <a:solidFill>
                  <a:srgbClr val="5A6B7B"/>
                </a:solidFill>
                <a:latin typeface="Calibri"/>
              </a:rPr>
              <a:t>Northbridge Community Bank  ·  Endpoint Management Proposal  ·  Confidential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0080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900" b="0">
                <a:solidFill>
                  <a:srgbClr val="5A6B7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09728" cy="777240"/>
          </a:xfrm>
          <a:prstGeom prst="rect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3A89E"/>
                </a:solidFill>
                <a:latin typeface="Calibri"/>
              </a:rPr>
              <a:t>ASSURANCE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Calibri Light"/>
              </a:rPr>
              <a:t>Compliance and security, built in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1920239"/>
            <a:ext cx="292608" cy="292608"/>
          </a:xfrm>
          <a:prstGeom prst="ellipse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92807"/>
            <a:ext cx="292608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856231"/>
            <a:ext cx="48463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>
                <a:solidFill>
                  <a:srgbClr val="FFFFFF"/>
                </a:solidFill>
                <a:latin typeface="Calibri"/>
              </a:rPr>
              <a:t>Disk encryption (BitLocker) on every device</a:t>
            </a:r>
          </a:p>
        </p:txBody>
      </p:sp>
      <p:sp>
        <p:nvSpPr>
          <p:cNvPr id="8" name="Oval 7"/>
          <p:cNvSpPr/>
          <p:nvPr/>
        </p:nvSpPr>
        <p:spPr>
          <a:xfrm>
            <a:off x="6355080" y="1920239"/>
            <a:ext cx="292608" cy="292608"/>
          </a:xfrm>
          <a:prstGeom prst="ellipse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892807"/>
            <a:ext cx="292608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1856231"/>
            <a:ext cx="48463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>
                <a:solidFill>
                  <a:srgbClr val="FFFFFF"/>
                </a:solidFill>
                <a:latin typeface="Calibri"/>
              </a:rPr>
              <a:t>Antivirus active with current definitions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2834639"/>
            <a:ext cx="292608" cy="292608"/>
          </a:xfrm>
          <a:prstGeom prst="ellipse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807207"/>
            <a:ext cx="292608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770631"/>
            <a:ext cx="48463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>
                <a:solidFill>
                  <a:srgbClr val="FFFFFF"/>
                </a:solidFill>
                <a:latin typeface="Calibri"/>
              </a:rPr>
              <a:t>Firewall enabled everywhere</a:t>
            </a:r>
          </a:p>
        </p:txBody>
      </p:sp>
      <p:sp>
        <p:nvSpPr>
          <p:cNvPr id="14" name="Oval 13"/>
          <p:cNvSpPr/>
          <p:nvPr/>
        </p:nvSpPr>
        <p:spPr>
          <a:xfrm>
            <a:off x="6355080" y="2834639"/>
            <a:ext cx="292608" cy="292608"/>
          </a:xfrm>
          <a:prstGeom prst="ellipse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2807207"/>
            <a:ext cx="292608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2770631"/>
            <a:ext cx="48463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>
                <a:solidFill>
                  <a:srgbClr val="FFFFFF"/>
                </a:solidFill>
                <a:latin typeface="Calibri"/>
              </a:rPr>
              <a:t>Critical security patches applied on time</a:t>
            </a:r>
          </a:p>
        </p:txBody>
      </p:sp>
      <p:sp>
        <p:nvSpPr>
          <p:cNvPr id="17" name="Oval 16"/>
          <p:cNvSpPr/>
          <p:nvPr/>
        </p:nvSpPr>
        <p:spPr>
          <a:xfrm>
            <a:off x="868680" y="3749039"/>
            <a:ext cx="292608" cy="292608"/>
          </a:xfrm>
          <a:prstGeom prst="ellipse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721607"/>
            <a:ext cx="292608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685031"/>
            <a:ext cx="48463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>
                <a:solidFill>
                  <a:srgbClr val="FFFFFF"/>
                </a:solidFill>
                <a:latin typeface="Calibri"/>
              </a:rPr>
              <a:t>Screen auto-locks when unattended</a:t>
            </a:r>
          </a:p>
        </p:txBody>
      </p:sp>
      <p:sp>
        <p:nvSpPr>
          <p:cNvPr id="20" name="Oval 19"/>
          <p:cNvSpPr/>
          <p:nvPr/>
        </p:nvSpPr>
        <p:spPr>
          <a:xfrm>
            <a:off x="6355080" y="3749039"/>
            <a:ext cx="292608" cy="292608"/>
          </a:xfrm>
          <a:prstGeom prst="ellipse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5080" y="3721607"/>
            <a:ext cx="292608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3685031"/>
            <a:ext cx="48463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>
                <a:solidFill>
                  <a:srgbClr val="FFFFFF"/>
                </a:solidFill>
                <a:latin typeface="Calibri"/>
              </a:rPr>
              <a:t>Required security software present</a:t>
            </a:r>
          </a:p>
        </p:txBody>
      </p:sp>
      <p:sp>
        <p:nvSpPr>
          <p:cNvPr id="23" name="Oval 22"/>
          <p:cNvSpPr/>
          <p:nvPr/>
        </p:nvSpPr>
        <p:spPr>
          <a:xfrm>
            <a:off x="868680" y="4663439"/>
            <a:ext cx="292608" cy="292608"/>
          </a:xfrm>
          <a:prstGeom prst="ellipse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4636007"/>
            <a:ext cx="292608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599431"/>
            <a:ext cx="48463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>
                <a:solidFill>
                  <a:srgbClr val="FFFFFF"/>
                </a:solidFill>
                <a:latin typeface="Calibri"/>
              </a:rPr>
              <a:t>Audit-ready evidence, exported in minutes</a:t>
            </a:r>
          </a:p>
        </p:txBody>
      </p:sp>
      <p:sp>
        <p:nvSpPr>
          <p:cNvPr id="26" name="Oval 25"/>
          <p:cNvSpPr/>
          <p:nvPr/>
        </p:nvSpPr>
        <p:spPr>
          <a:xfrm>
            <a:off x="6355080" y="4663439"/>
            <a:ext cx="292608" cy="292608"/>
          </a:xfrm>
          <a:prstGeom prst="ellipse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5080" y="4636007"/>
            <a:ext cx="292608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0" y="4599431"/>
            <a:ext cx="48463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>
                <a:solidFill>
                  <a:srgbClr val="FFFFFF"/>
                </a:solidFill>
                <a:latin typeface="Calibri"/>
              </a:rPr>
              <a:t>All management traffic encrypted end to end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900" b="0">
                <a:solidFill>
                  <a:srgbClr val="B8C4D0"/>
                </a:solidFill>
                <a:latin typeface="Calibri"/>
              </a:rPr>
              <a:t>Northbridge Community Bank  ·  Endpoint Management Proposal  ·  Confidential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0080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900" b="0">
                <a:solidFill>
                  <a:srgbClr val="B8C4D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09728" cy="777240"/>
          </a:xfrm>
          <a:prstGeom prst="rect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3A89E"/>
                </a:solidFill>
                <a:latin typeface="Calibri"/>
              </a:rPr>
              <a:t>THE ECONOMICS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000" b="1">
                <a:solidFill>
                  <a:srgbClr val="0B2545"/>
                </a:solidFill>
                <a:latin typeface="Calibri Light"/>
              </a:rPr>
              <a:t>A fraction of the commercial cost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74519"/>
            <a:ext cx="3474720" cy="34290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3474720" cy="10972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2167127"/>
            <a:ext cx="2962656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0B2545"/>
                </a:solidFill>
                <a:latin typeface="Calibri"/>
              </a:rPr>
              <a:t>Commercial tools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100" b="1">
                <a:solidFill>
                  <a:srgbClr val="C0392B"/>
                </a:solidFill>
                <a:latin typeface="Calibri Light"/>
              </a:rPr>
              <a:t>$3–7 / device / mo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A6B7B"/>
                </a:solidFill>
                <a:latin typeface="Calibri"/>
              </a:rPr>
              <a:t>~10,000 devices  ≈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>
                <a:solidFill>
                  <a:srgbClr val="5A6B7B"/>
                </a:solidFill>
                <a:latin typeface="Calibri"/>
              </a:rPr>
              <a:t>$360k–$840k / year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A6B7B"/>
                </a:solidFill>
                <a:latin typeface="Calibri"/>
              </a:rPr>
              <a:t>per-seat, forever;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A6B7B"/>
                </a:solidFill>
                <a:latin typeface="Calibri"/>
              </a:rPr>
              <a:t>grows with the fleet.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52544" y="1874519"/>
            <a:ext cx="3474720" cy="34290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52544" y="1874519"/>
            <a:ext cx="3474720" cy="109728"/>
          </a:xfrm>
          <a:prstGeom prst="rect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08576" y="2167127"/>
            <a:ext cx="2962656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0B2545"/>
                </a:solidFill>
                <a:latin typeface="Calibri"/>
              </a:rPr>
              <a:t>This solution — hosted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100" b="1">
                <a:solidFill>
                  <a:srgbClr val="13A89E"/>
                </a:solidFill>
                <a:latin typeface="Calibri Light"/>
              </a:rPr>
              <a:t>~$1.5–3.5k / mo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A6B7B"/>
                </a:solidFill>
                <a:latin typeface="Calibri"/>
              </a:rPr>
              <a:t>≈ $18k–42k / year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>
                <a:solidFill>
                  <a:srgbClr val="5A6B7B"/>
                </a:solidFill>
                <a:latin typeface="Calibri"/>
              </a:rPr>
              <a:t>at 10k, highly available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A6B7B"/>
                </a:solidFill>
                <a:latin typeface="Calibri"/>
              </a:rPr>
              <a:t>No per-seat fees;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A6B7B"/>
                </a:solidFill>
                <a:latin typeface="Calibri"/>
              </a:rPr>
              <a:t>needs a sizing pass.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56448" y="1874519"/>
            <a:ext cx="3474720" cy="34290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56448" y="1874519"/>
            <a:ext cx="3474720" cy="10972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2167127"/>
            <a:ext cx="2962656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0B2545"/>
                </a:solidFill>
                <a:latin typeface="Calibri"/>
              </a:rPr>
              <a:t>This solution — on-prem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100" b="1">
                <a:solidFill>
                  <a:srgbClr val="2E8B57"/>
                </a:solidFill>
                <a:latin typeface="Calibri Light"/>
              </a:rPr>
              <a:t>$0 licensing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A6B7B"/>
                </a:solidFill>
                <a:latin typeface="Calibri"/>
              </a:rPr>
              <a:t>Runs on our own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>
                <a:solidFill>
                  <a:srgbClr val="5A6B7B"/>
                </a:solidFill>
                <a:latin typeface="Calibri"/>
              </a:rPr>
              <a:t>servers / VMs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A6B7B"/>
                </a:solidFill>
                <a:latin typeface="Calibri"/>
              </a:rPr>
              <a:t>No cloud required;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A6B7B"/>
                </a:solidFill>
                <a:latin typeface="Calibri"/>
              </a:rPr>
              <a:t>just compute + IT time.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48640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5A6B7B"/>
                </a:solidFill>
                <a:latin typeface="Calibri"/>
              </a:rPr>
              <a:t>Illustrative figures at ~10,000 devices — not quotes; production cost needs a sizing pass. Commercial pricing is per-device (six figures/yr, forever); ours is infrastructure-based, so the gap widens as we grow. Data stays in-house either way.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900" b="0">
                <a:solidFill>
                  <a:srgbClr val="5A6B7B"/>
                </a:solidFill>
                <a:latin typeface="Calibri"/>
              </a:rPr>
              <a:t>Northbridge Community Bank  ·  Endpoint Management Proposal  ·  Confidential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0080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900" b="0">
                <a:solidFill>
                  <a:srgbClr val="5A6B7B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09728" cy="777240"/>
          </a:xfrm>
          <a:prstGeom prst="rect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3A89E"/>
                </a:solidFill>
                <a:latin typeface="Calibri"/>
              </a:rPr>
              <a:t>THE PLAN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000" b="1">
                <a:solidFill>
                  <a:srgbClr val="0B2545"/>
                </a:solidFill>
                <a:latin typeface="Calibri Light"/>
              </a:rPr>
              <a:t>A low-risk, phased rollout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20240"/>
            <a:ext cx="3429000" cy="356616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920240"/>
            <a:ext cx="3429000" cy="822960"/>
          </a:xfrm>
          <a:prstGeom prst="rect">
            <a:avLst/>
          </a:prstGeom>
          <a:solidFill>
            <a:srgbClr val="1B6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2971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Phase 1  ·  2–4 weeks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926080"/>
            <a:ext cx="29718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0B2545"/>
                </a:solidFill>
                <a:latin typeface="Calibri"/>
              </a:rPr>
              <a:t>Pilot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>
                <a:solidFill>
                  <a:srgbClr val="5A6B7B"/>
                </a:solidFill>
                <a:latin typeface="Calibri"/>
              </a:rPr>
              <a:t>50 devices. Validate the full loop end to end and tune our security policies. (POC already proven.)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160520" y="3520440"/>
            <a:ext cx="256032" cy="365760"/>
          </a:xfrm>
          <a:prstGeom prst="rightArrow">
            <a:avLst/>
          </a:prstGeom>
          <a:solidFill>
            <a:srgbClr val="1B6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70832" y="1920240"/>
            <a:ext cx="3429000" cy="356616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70832" y="1920240"/>
            <a:ext cx="3429000" cy="822960"/>
          </a:xfrm>
          <a:prstGeom prst="rect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9432" y="2011680"/>
            <a:ext cx="2971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Phase 2  ·  Phased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926080"/>
            <a:ext cx="29718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0B2545"/>
                </a:solidFill>
                <a:latin typeface="Calibri"/>
              </a:rPr>
              <a:t>First milestone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>
                <a:solidFill>
                  <a:srgbClr val="5A6B7B"/>
                </a:solidFill>
                <a:latin typeface="Calibri"/>
              </a:rPr>
              <a:t>~1,000 newly acquired computers, shipped agent-ready — zero-touch, enrolled on first boot.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754112" y="3520440"/>
            <a:ext cx="256032" cy="365760"/>
          </a:xfrm>
          <a:prstGeom prst="rightArrow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64424" y="1920240"/>
            <a:ext cx="3429000" cy="356616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64424" y="1920240"/>
            <a:ext cx="3429000" cy="82296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93024" y="2011680"/>
            <a:ext cx="2971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Phase 3  ·  Phased, months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93024" y="2926080"/>
            <a:ext cx="29718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0B2545"/>
                </a:solidFill>
                <a:latin typeface="Calibri"/>
              </a:rPr>
              <a:t>Scale to fleet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>
                <a:solidFill>
                  <a:srgbClr val="5A6B7B"/>
                </a:solidFill>
                <a:latin typeface="Calibri"/>
              </a:rPr>
              <a:t>Onboard existing devices in waves, toward ~10,000 total, with full reporting.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66928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>
                <a:solidFill>
                  <a:srgbClr val="5A6B7B"/>
                </a:solidFill>
                <a:latin typeface="Calibri"/>
              </a:rPr>
              <a:t>We prove value on two devices before spending real money or touching the fleet. Every phase has a clear go / no-go decision.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900" b="0">
                <a:solidFill>
                  <a:srgbClr val="5A6B7B"/>
                </a:solidFill>
                <a:latin typeface="Calibri"/>
              </a:rPr>
              <a:t>Northbridge Community Bank  ·  Endpoint Management Proposal  ·  Confidential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0080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900" b="0">
                <a:solidFill>
                  <a:srgbClr val="5A6B7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09728" cy="777240"/>
          </a:xfrm>
          <a:prstGeom prst="rect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3A89E"/>
                </a:solidFill>
                <a:latin typeface="Calibri"/>
              </a:rPr>
              <a:t>HONEST 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000" b="1">
                <a:solidFill>
                  <a:srgbClr val="0B2545"/>
                </a:solidFill>
                <a:latin typeface="Calibri Light"/>
              </a:rPr>
              <a:t>Risks — and how we manage them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3383280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30175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“No vendor to call”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7680" y="1828800"/>
            <a:ext cx="7040880" cy="86868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1828800"/>
            <a:ext cx="66751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5A6B7B"/>
                </a:solidFill>
                <a:latin typeface="Calibri"/>
              </a:rPr>
              <a:t>Large communities + paid support options exist; we also fully own and control the system.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852928"/>
            <a:ext cx="3383280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852928"/>
            <a:ext cx="30175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Securing the central system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2852928"/>
            <a:ext cx="7040880" cy="86868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2852928"/>
            <a:ext cx="66751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5A6B7B"/>
                </a:solidFill>
                <a:latin typeface="Calibri"/>
              </a:rPr>
              <a:t>Locked-down cloud, encrypted traffic, restricted admin access — treated as critical infrastructure.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3877056"/>
            <a:ext cx="3383280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877056"/>
            <a:ext cx="30175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Relies on IT staff time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7680" y="3877056"/>
            <a:ext cx="7040880" cy="86868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3877056"/>
            <a:ext cx="66751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5A6B7B"/>
                </a:solidFill>
                <a:latin typeface="Calibri"/>
              </a:rPr>
              <a:t>Phased rollout keeps effort modest; the POC quantifies the real workload before we commit.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4901184"/>
            <a:ext cx="3383280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901184"/>
            <a:ext cx="30175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Open-source licensing terms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97680" y="4901184"/>
            <a:ext cx="7040880" cy="86868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26280" y="4901184"/>
            <a:ext cx="66751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5A6B7B"/>
                </a:solidFill>
                <a:latin typeface="Calibri"/>
              </a:rPr>
              <a:t>Reviewed for our use; one tool's license to be formally signed off before full rollout.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900" b="0">
                <a:solidFill>
                  <a:srgbClr val="5A6B7B"/>
                </a:solidFill>
                <a:latin typeface="Calibri"/>
              </a:rPr>
              <a:t>Northbridge Community Bank  ·  Endpoint Management Proposal  ·  Confidential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0080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900" b="0">
                <a:solidFill>
                  <a:srgbClr val="5A6B7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46320"/>
            <a:ext cx="12191695" cy="73152"/>
          </a:xfrm>
          <a:prstGeom prst="rect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02920"/>
            <a:ext cx="109728" cy="777240"/>
          </a:xfrm>
          <a:prstGeom prst="rect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411480"/>
            <a:ext cx="107899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3A89E"/>
                </a:solidFill>
                <a:latin typeface="Calibri"/>
              </a:rPr>
              <a:t>THE ASK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Calibri Light"/>
              </a:rPr>
              <a:t>What we're requesting 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800"/>
              </a:spcAft>
            </a:pPr>
            <a:r>
              <a:rPr sz="2400" b="1">
                <a:solidFill>
                  <a:srgbClr val="FFFFFF"/>
                </a:solidFill>
                <a:latin typeface="Calibri Light"/>
              </a:rPr>
              <a:t>Approval to run a 4–6 week proof of concept on two test devices.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700" b="0">
                <a:solidFill>
                  <a:srgbClr val="C8D4E0"/>
                </a:solidFill>
                <a:latin typeface="Calibri"/>
              </a:rPr>
              <a:t>→   Incremental cost: near zero (free software, minimal cloud spend).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700" b="0">
                <a:solidFill>
                  <a:srgbClr val="C8D4E0"/>
                </a:solidFill>
                <a:latin typeface="Calibri"/>
              </a:rPr>
              <a:t>→   Outcome: a live demo — a device seen, proven compliant, and patched end to end.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700" b="0">
                <a:solidFill>
                  <a:srgbClr val="C8D4E0"/>
                </a:solidFill>
                <a:latin typeface="Calibri"/>
              </a:rPr>
              <a:t>→   Decision point: a clear go / no-go on a wider pilot, backed by real evidence.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12064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3A89E"/>
                </a:solidFill>
                <a:latin typeface="Calibri"/>
              </a:rPr>
              <a:t>In six weeks we can answer the question we opened with — “yes, every device is encrypted and patched, and here is the report.”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900" b="0">
                <a:solidFill>
                  <a:srgbClr val="B8C4D0"/>
                </a:solidFill>
                <a:latin typeface="Calibri"/>
              </a:rPr>
              <a:t>Northbridge Community Bank  ·  Endpoint Management Proposal  · 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0080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900" b="0">
                <a:solidFill>
                  <a:srgbClr val="B8C4D0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743200"/>
            <a:ext cx="109728" cy="1097280"/>
          </a:xfrm>
          <a:prstGeom prst="rect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144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4000" b="1">
                <a:solidFill>
                  <a:srgbClr val="FFFFFF"/>
                </a:solidFill>
                <a:latin typeface="Calibri Light"/>
              </a:rPr>
              <a:t>Thank you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>
                <a:solidFill>
                  <a:srgbClr val="C8D4E0"/>
                </a:solidFill>
                <a:latin typeface="Calibri"/>
              </a:rPr>
              <a:t>Questions &amp;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